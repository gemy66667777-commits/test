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7555992" cy="10692384"/>
  <p:notesSz cx="10692384" cy="755599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3936" y="807085"/>
            <a:ext cx="160743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556A8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Chapter </a:t>
            </a:r>
            <a:pPr algn="l" indent="0" marL="0">
              <a:buNone/>
            </a:pPr>
            <a:r>
              <a:rPr lang="en-US" sz="1300" b="1" dirty="0">
                <a:solidFill>
                  <a:srgbClr val="2556A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2556A8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2556A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·</a:t>
            </a:r>
            <a:pPr algn="l" indent="0" marL="0">
              <a:buNone/>
            </a:pPr>
            <a:r>
              <a:rPr lang="en-US" sz="1300" dirty="0">
                <a:solidFill>
                  <a:srgbClr val="2556A8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Lesson </a:t>
            </a:r>
            <a:pPr algn="l" indent="0" marL="0">
              <a:buNone/>
            </a:pPr>
            <a:r>
              <a:rPr lang="en-US" sz="1300" b="1" dirty="0">
                <a:solidFill>
                  <a:srgbClr val="2556A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74370" y="1423416"/>
            <a:ext cx="67259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restoring force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·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periodic time and the frequency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·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mass–spring oscillator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·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= 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002280" y="1642491"/>
            <a:ext cx="16974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sin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·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energy in SHM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82823" y="1861566"/>
            <a:ext cx="10914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56A8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Take </a:t>
            </a:r>
            <a:pPr algn="l" indent="0" marL="0">
              <a:buNone/>
            </a:pPr>
            <a:r>
              <a:rPr lang="en-US" sz="1200" b="1" dirty="0">
                <a:solidFill>
                  <a:srgbClr val="2556A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2556A8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2556A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2556A8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2556A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0241"/>
            <a:ext cx="65599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block of mass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 is attached to a horizontal spring of spring constant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 on 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33827"/>
            <a:ext cx="65841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smooth horizontal surface. The block is pulled aside and released, so it oscillates in simple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14802"/>
            <a:ext cx="130784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harmonic motion: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53152"/>
            <a:ext cx="40604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angular frequency of the oscillation equals ............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28666"/>
            <a:ext cx="8092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81504" y="5328666"/>
            <a:ext cx="9556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40048" y="5328666"/>
            <a:ext cx="8895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98592" y="5328666"/>
            <a:ext cx="8663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86577"/>
            <a:ext cx="36892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periodic time of the oscillation equals ............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052566"/>
            <a:ext cx="8149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628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381504" y="6052566"/>
            <a:ext cx="7926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40048" y="6052566"/>
            <a:ext cx="6793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59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98592" y="6052566"/>
            <a:ext cx="7208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886702"/>
            <a:ext cx="66018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displacement of a body moving in simple harmonic motion is given by the equation x =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5881" y="7005066"/>
            <a:ext cx="38977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t), where x is in metres and t in seconds: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7553452"/>
            <a:ext cx="32137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amplitude of the motion equals ............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7719441"/>
            <a:ext cx="6376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381504" y="7719441"/>
            <a:ext cx="7683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940048" y="7719441"/>
            <a:ext cx="6230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98592" y="7719441"/>
            <a:ext cx="51155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8277352"/>
            <a:ext cx="32261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frequency of the motion equals ............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8452866"/>
            <a:ext cx="6969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381504" y="8452866"/>
            <a:ext cx="8997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940048" y="8452866"/>
            <a:ext cx="7815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98592" y="8452866"/>
            <a:ext cx="7631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126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43102"/>
            <a:ext cx="20488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Choose the correct answer: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9352"/>
            <a:ext cx="46405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In simple harmonic motion, the restoring force is always ............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57477"/>
            <a:ext cx="21327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in the direction of motion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86077"/>
            <a:ext cx="598462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directed towards the equilibrium position and proportional to the displacement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5152"/>
            <a:ext cx="18660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constant in magnitude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3752"/>
            <a:ext cx="22750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proportional to the velocity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29052"/>
            <a:ext cx="33383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speed of the body is maximum at ............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7177"/>
            <a:ext cx="19508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equilibrium position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40048" y="3067177"/>
            <a:ext cx="21289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two extreme positions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95777"/>
            <a:ext cx="18737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halfway between them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40048" y="3295777"/>
            <a:ext cx="16424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every point equally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791077"/>
            <a:ext cx="38091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acceleration of the body is maximum at ............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019677"/>
            <a:ext cx="19508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equilibrium position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40048" y="4019677"/>
            <a:ext cx="20118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halfway to the extremes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48277"/>
            <a:ext cx="21174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two extreme positions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40048" y="4248277"/>
            <a:ext cx="8794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no point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19802"/>
            <a:ext cx="65318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graph shows how the displacement of a body in simple harmonic motion changes with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200777"/>
            <a:ext cx="4155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time: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677027"/>
            <a:ext cx="28541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amplitude of the motion is ............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852541"/>
            <a:ext cx="6181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320036" y="5852541"/>
            <a:ext cx="6250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081141"/>
            <a:ext cx="6029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20036" y="6081141"/>
            <a:ext cx="7480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6639052"/>
            <a:ext cx="28665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frequency of the motion is ............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805041"/>
            <a:ext cx="7296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20036" y="6805041"/>
            <a:ext cx="7344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7033641"/>
            <a:ext cx="7876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320036" y="7033641"/>
            <a:ext cx="8293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7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7591552"/>
            <a:ext cx="24212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Calculate the angular frequency.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43102"/>
            <a:ext cx="64719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graph shows the restoring force F acting on a body attached to a spring against 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24077"/>
            <a:ext cx="32825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displacement x from the equilibrium position: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00577"/>
            <a:ext cx="25820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spring constant equals ............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66566"/>
            <a:ext cx="7092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940048" y="3766566"/>
            <a:ext cx="7993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95166"/>
            <a:ext cx="8830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940048" y="3995166"/>
            <a:ext cx="99555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2000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90466"/>
            <a:ext cx="42706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If the mass of the body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kg, its periodic time is ............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28591"/>
            <a:ext cx="8149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628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40048" y="4728591"/>
            <a:ext cx="7926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57191"/>
            <a:ext cx="70345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40048" y="4957191"/>
            <a:ext cx="5925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15102"/>
            <a:ext cx="35326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What does the negative slope of the line mean?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519291"/>
            <a:ext cx="59278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in simple harmonic motion has a maximum speed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 and a maximum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709791"/>
            <a:ext cx="18341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acceleration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7248652"/>
            <a:ext cx="26898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Its angular frequency equals ............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7414641"/>
            <a:ext cx="8963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80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381504" y="7414641"/>
            <a:ext cx="8924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40048" y="7414641"/>
            <a:ext cx="10167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98592" y="7414641"/>
            <a:ext cx="9091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7972552"/>
            <a:ext cx="30514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amplitude and the periodic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43102"/>
            <a:ext cx="63199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Two identical bodies, each of mass m, oscillate horizontally on two springs: spring A of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61466"/>
            <a:ext cx="36880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constant k and spring B of constant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k, as shown: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05327"/>
            <a:ext cx="38928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ratio of the periodic times T</a:t>
            </a:r>
            <a:pPr algn="l" indent="0" marL="0">
              <a:buNone/>
            </a:pPr>
            <a:r>
              <a:rPr lang="en-US" sz="1200" baseline="-400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</a:t>
            </a:r>
            <a:pPr algn="l" indent="0" marL="0">
              <a:buNone/>
            </a:pPr>
            <a:r>
              <a:rPr lang="en-US" sz="1200" baseline="-400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equals ............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80841"/>
            <a:ext cx="3890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81504" y="3680841"/>
            <a:ext cx="5003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940048" y="3680841"/>
            <a:ext cx="4997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98592" y="3680841"/>
            <a:ext cx="3792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38752"/>
            <a:ext cx="57844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What mass must be fixed to spring B so that its periodic time equals that of A?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00116"/>
            <a:ext cx="61056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of mass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 oscillates on a horizontal spring of constant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 with an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81091"/>
            <a:ext cx="14773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amplitude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219952"/>
            <a:ext cx="406895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total mechanical energy of the oscillator is ............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95466"/>
            <a:ext cx="6494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81504" y="6395466"/>
            <a:ext cx="6563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40048" y="6395466"/>
            <a:ext cx="5160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98592" y="6395466"/>
            <a:ext cx="7574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953377"/>
            <a:ext cx="31346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Calculate the maximum speed of the body.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7938516"/>
            <a:ext cx="37216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Calculate its speed when the displacement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80491"/>
            <a:ext cx="61365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graph shows two energy curves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and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of a body in simple harmonic motion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24077"/>
            <a:ext cx="44033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against its displacement x, together with the total energy E: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86302"/>
            <a:ext cx="39857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curve that represents the kinetic energy is ............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52291"/>
            <a:ext cx="8982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curve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940048" y="3914902"/>
            <a:ext cx="12438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none of them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43502"/>
            <a:ext cx="9475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line 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940048" y="4080891"/>
            <a:ext cx="93141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curve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38802"/>
            <a:ext cx="60091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point P the kinetic and potential energies are equal. Its displacement is ............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14316"/>
            <a:ext cx="6581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40048" y="4814316"/>
            <a:ext cx="6638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40048" y="5105527"/>
            <a:ext cx="3945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71491"/>
            <a:ext cx="7961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66791"/>
            <a:ext cx="26852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ratio KE : PE when x = 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643116"/>
            <a:ext cx="66003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oscillates in simple harmonic motion with a periodic time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s, starting from the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824091"/>
            <a:ext cx="25693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equilibrium position (x = A sin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7300341"/>
            <a:ext cx="476580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shortest time taken to move from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to x = 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is ............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7538466"/>
            <a:ext cx="6254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381504" y="7538466"/>
            <a:ext cx="69011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40048" y="7538466"/>
            <a:ext cx="5751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98592" y="7538466"/>
            <a:ext cx="6247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8033766"/>
            <a:ext cx="64705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time taken to move from x = 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to x = A, and explain why it is longer than the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8277352"/>
            <a:ext cx="7227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first half.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43102"/>
            <a:ext cx="61328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graph shows the acceleration a of a body in simple harmonic motion against 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24077"/>
            <a:ext cx="117170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displacement x: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327"/>
            <a:ext cx="28905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angular frequency of the motion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90827"/>
            <a:ext cx="5942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............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56816"/>
            <a:ext cx="1003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428113" y="1956816"/>
            <a:ext cx="8081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85416"/>
            <a:ext cx="10167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28113" y="2185416"/>
            <a:ext cx="8983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43327"/>
            <a:ext cx="20497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Calculate the periodic time.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43427"/>
            <a:ext cx="30460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What property of simple harmonic motion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33927"/>
            <a:ext cx="16714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does this graph show?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38116"/>
            <a:ext cx="63996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displacement of a body in simple harmonic motion is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5π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t), where x is in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91227"/>
            <a:ext cx="18348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metres and t in seconds: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04866"/>
            <a:ext cx="379349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displacement of the body at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 is ............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705602"/>
            <a:ext cx="5915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zero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81504" y="5642991"/>
            <a:ext cx="7683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40048" y="5642991"/>
            <a:ext cx="6230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98592" y="5642991"/>
            <a:ext cx="7306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−0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191377"/>
            <a:ext cx="48915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velocity and the acceleration of the body at that instant.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7248652"/>
            <a:ext cx="16883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periodic time.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8324977"/>
            <a:ext cx="65586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steel ruler is clamped at the edge of a table and its free end is set vibrating, as shown: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81177"/>
            <a:ext cx="560400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As the amplitude of the vibration slowly decreases, the periodic time ............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9777"/>
            <a:ext cx="9422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increases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381504" y="1009777"/>
            <a:ext cx="9966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decreases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40048" y="1009777"/>
            <a:ext cx="14909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remains constant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98592" y="1009777"/>
            <a:ext cx="12694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becomes zero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505077"/>
            <a:ext cx="63686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If the free length of the ruler is made shorter, what happens to the frequency? Explain.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66441"/>
            <a:ext cx="64321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Two identical bodies on two identical springs are displaced from equilibrium by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(A)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56941"/>
            <a:ext cx="43064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and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(B) and released at the same moment, as shown: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00802"/>
            <a:ext cx="45057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body that reaches the equilibrium position first is ............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29402"/>
            <a:ext cx="39357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40048" y="5629402"/>
            <a:ext cx="3609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858002"/>
            <a:ext cx="186677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both at the same time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40048" y="5858002"/>
            <a:ext cx="16607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it cannot be known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53302"/>
            <a:ext cx="34022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ratio of their maximum speeds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7153402"/>
            <a:ext cx="32843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ratio of their total energies E</a:t>
            </a:r>
            <a:pPr algn="l" indent="0" marL="0">
              <a:buNone/>
            </a:pPr>
            <a:r>
              <a:rPr lang="en-US" sz="1200" baseline="-400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E</a:t>
            </a:r>
            <a:pPr algn="l" indent="0" marL="0">
              <a:buNone/>
            </a:pPr>
            <a:r>
              <a:rPr lang="en-US" sz="1200" baseline="-400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8229727"/>
            <a:ext cx="61358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amplitude of a mass–spring oscillator is doubled, the mass and the spring being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8410702"/>
            <a:ext cx="8911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unchanged: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8886952"/>
            <a:ext cx="24782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Which of the following is correct?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9125077"/>
            <a:ext cx="22912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periodic time is doubled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940048" y="9125077"/>
            <a:ext cx="24610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maximum speed is doubled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9353677"/>
            <a:ext cx="22321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total energy is doubled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940048" y="9353677"/>
            <a:ext cx="31654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maximum acceleration is quadrupled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81177"/>
            <a:ext cx="25224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total energy becomes ............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47166"/>
            <a:ext cx="7988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times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381504" y="1009777"/>
            <a:ext cx="9272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same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40048" y="947166"/>
            <a:ext cx="7929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times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98592" y="1009777"/>
            <a:ext cx="5640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half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18691"/>
            <a:ext cx="64626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spring of a mass–spring oscillator is replaced by one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times stiffer, and the mass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62277"/>
            <a:ext cx="6963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doubled: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5916"/>
            <a:ext cx="43957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new periodic time T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′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in terms of the old one T is ............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81504" y="2614041"/>
            <a:ext cx="6234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98592" y="2614041"/>
            <a:ext cx="4617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642616"/>
            <a:ext cx="7828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40048" y="2642616"/>
            <a:ext cx="6529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200527"/>
            <a:ext cx="24729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How does the frequency change?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76852"/>
            <a:ext cx="65618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graph shows the displacement of a body in simple harmonic motion against time. P, Q,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57827"/>
            <a:ext cx="28830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R, S and T are five points on the curve: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34077"/>
            <a:ext cx="27689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speed of the body is maximum at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24577"/>
            <a:ext cx="5942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............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353177"/>
            <a:ext cx="10013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P, R and 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320036" y="5353177"/>
            <a:ext cx="8572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Q and 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581777"/>
            <a:ext cx="7241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Q only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320036" y="5581777"/>
            <a:ext cx="7169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 only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077077"/>
            <a:ext cx="30490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acceleration is maximum and positive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6267577"/>
            <a:ext cx="8027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............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6496177"/>
            <a:ext cx="3938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Q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320036" y="6496177"/>
            <a:ext cx="3623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6724777"/>
            <a:ext cx="3536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320036" y="6724777"/>
            <a:ext cx="3700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7220077"/>
            <a:ext cx="31911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which points is the restoring force zero?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8233791"/>
            <a:ext cx="61075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oscillates with an amplitude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and an angular frequency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rad/s: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8710041"/>
            <a:ext cx="39766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Its speed when its displacement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equals ............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8948166"/>
            <a:ext cx="6410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381504" y="8948166"/>
            <a:ext cx="7959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940048" y="8948166"/>
            <a:ext cx="7844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98592" y="8948166"/>
            <a:ext cx="9005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81177"/>
            <a:ext cx="43445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what displacement is its speed half the maximum speed?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42541"/>
            <a:ext cx="64218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speed of a body in simple harmonic motion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 when its displacement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cm,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23516"/>
            <a:ext cx="31257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and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 when its displacement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cm: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62377"/>
            <a:ext cx="31088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angular frequency of the motion.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19652"/>
            <a:ext cx="14540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amplitude.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43627"/>
            <a:ext cx="65335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graph shows how the velocity of a body in simple harmonic motion changes with time: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19877"/>
            <a:ext cx="20598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angular frequency.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419977"/>
            <a:ext cx="28541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amplitude of the motion is ............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595491"/>
            <a:ext cx="8202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59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56104" y="6595491"/>
            <a:ext cx="8097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824091"/>
            <a:ext cx="69977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56104" y="6824091"/>
            <a:ext cx="8281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7319391"/>
            <a:ext cx="206070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Where is the body at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8448802"/>
            <a:ext cx="20488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Choose the correct answer: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8871966"/>
            <a:ext cx="61790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When the displacement of a body in simple harmonic motion is 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, the ratio KE : PE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9115552"/>
            <a:ext cx="11111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equals ............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9291066"/>
            <a:ext cx="3801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381504" y="9291066"/>
            <a:ext cx="3721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8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40048" y="9291066"/>
            <a:ext cx="3606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9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98592" y="9291066"/>
            <a:ext cx="5052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18566"/>
            <a:ext cx="65427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of mass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 oscillates with an amplitude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and a frequency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Hz. The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2152"/>
            <a:ext cx="294805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maximum restoring force on it is ............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37666"/>
            <a:ext cx="72009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19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81504" y="1137666"/>
            <a:ext cx="7514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9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940048" y="1137666"/>
            <a:ext cx="7550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39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98592" y="1137666"/>
            <a:ext cx="7599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899666"/>
            <a:ext cx="62710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student finds that a body of unknown mass m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on a spring oscillates with a periodic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90166"/>
            <a:ext cx="579704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time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s. When a mass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 is added, the periodic time becomes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6416"/>
            <a:ext cx="13192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mass m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76777"/>
            <a:ext cx="18714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spring constant.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38141"/>
            <a:ext cx="63563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graph shows the square of the periodic time T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of a mass–spring oscillator against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91252"/>
            <a:ext cx="9135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mass m: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667502"/>
            <a:ext cx="25820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spring constant equals ............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43016"/>
            <a:ext cx="9479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49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428113" y="5843016"/>
            <a:ext cx="83197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062091"/>
            <a:ext cx="9296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428113" y="6062091"/>
            <a:ext cx="9339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98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557391"/>
            <a:ext cx="33229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periodic time when a mass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810502"/>
            <a:ext cx="5965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is used.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7877302"/>
            <a:ext cx="60747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graph shows the displacement–time curve of a body in simple harmonic motion: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8363077"/>
            <a:ext cx="34598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angular frequency of the motion is ............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8529066"/>
            <a:ext cx="10274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552192" y="8529066"/>
            <a:ext cx="10053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8757666"/>
            <a:ext cx="10836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52192" y="8757666"/>
            <a:ext cx="80340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9315577"/>
            <a:ext cx="364109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Write the equation of the displacement in metres.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80491"/>
            <a:ext cx="62417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starts its simple harmonic motion from the equilibrium position (x = A sin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56741"/>
            <a:ext cx="31400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t = T/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ratio KE : PE equals ............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94866"/>
            <a:ext cx="5488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81504" y="1594866"/>
            <a:ext cx="5777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940048" y="1594866"/>
            <a:ext cx="5664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98592" y="1594866"/>
            <a:ext cx="5819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90166"/>
            <a:ext cx="65255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oscillates with an amplitude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and a maximum acceleration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 Its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3752"/>
            <a:ext cx="15133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frequency is ............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09266"/>
            <a:ext cx="7979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81504" y="2509266"/>
            <a:ext cx="6920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40048" y="2509266"/>
            <a:ext cx="8883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98592" y="2509266"/>
            <a:ext cx="8039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333877"/>
            <a:ext cx="37956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Give the scientific reason for each of the following: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10127"/>
            <a:ext cx="58948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periodic time of a mass–spring oscillator does not depend on the amplitude.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67402"/>
            <a:ext cx="53052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speed of the oscillating body is maximum at the equilibrium position.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915152"/>
            <a:ext cx="63054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horizontal mass–spring oscillator has the same periodic time on the Moon as on the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105652"/>
            <a:ext cx="5097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Earth.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7367016"/>
            <a:ext cx="60088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of mass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 oscillates on a horizontal spring of constant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 with an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7547991"/>
            <a:ext cx="15093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amplitude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cm: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18566"/>
            <a:ext cx="382244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Its speed at a displacement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equals ............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47166"/>
            <a:ext cx="6732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381504" y="947166"/>
            <a:ext cx="76555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40048" y="947166"/>
            <a:ext cx="7553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98592" y="947166"/>
            <a:ext cx="8018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505077"/>
            <a:ext cx="661047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kinetic and potential energies at that point, and check that their sum is constant.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66441"/>
            <a:ext cx="58119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displacement of a body is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t), where x is in cm and t in seconds: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52216"/>
            <a:ext cx="33304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first moment at which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is ............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80816"/>
            <a:ext cx="6304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81504" y="3480816"/>
            <a:ext cx="6816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40048" y="3480816"/>
            <a:ext cx="6073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98592" y="3480816"/>
            <a:ext cx="6216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038727"/>
            <a:ext cx="32757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speed of the body at that moment.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00091"/>
            <a:ext cx="61372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in simple harmonic motion has an acceleration of magnitude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when its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490591"/>
            <a:ext cx="15974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displacement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029452"/>
            <a:ext cx="26898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Its angular frequency equals ............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195441"/>
            <a:ext cx="1003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381504" y="6195441"/>
            <a:ext cx="8081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40048" y="6195441"/>
            <a:ext cx="7860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98592" y="6195441"/>
            <a:ext cx="8983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690741"/>
            <a:ext cx="49066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what displacement is the magnitude of its acceleration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7553452"/>
            <a:ext cx="16883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periodic time.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8567166"/>
            <a:ext cx="64871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Two bodies, each of mass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kg, oscillate on two springs of constants k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 and k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8757666"/>
            <a:ext cx="37180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N/m, both with the same amplitude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cm: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9233916"/>
            <a:ext cx="37504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ratio of their frequencies f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f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equals ............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9462516"/>
            <a:ext cx="3783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381504" y="9462516"/>
            <a:ext cx="3840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940048" y="9462516"/>
            <a:ext cx="4997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98592" y="9462516"/>
            <a:ext cx="5063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18566"/>
            <a:ext cx="32838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ratio of their total energies E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E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927"/>
            <a:ext cx="293357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ratio of their maximum speeds.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42641"/>
            <a:ext cx="631837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oscillates in simple harmonic motion with an amplitude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and a periodic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23616"/>
            <a:ext cx="10368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time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s: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99866"/>
            <a:ext cx="65363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shortest time the body takes to move directly from x = +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to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is ............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37991"/>
            <a:ext cx="6236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81504" y="3737991"/>
            <a:ext cx="6174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40048" y="3737991"/>
            <a:ext cx="6179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98592" y="3737991"/>
            <a:ext cx="5943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5902"/>
            <a:ext cx="65114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average speed of the body during this interval, and compare it with its maximum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76877"/>
            <a:ext cx="5354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speed.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471541"/>
            <a:ext cx="64754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During one complete oscillation, for how long is the body more than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away from the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715127"/>
            <a:ext cx="15389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equilibrium position?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976491"/>
            <a:ext cx="65091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When the displacement of a body in simple harmonic motion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cm, the magnitude of its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7166991"/>
            <a:ext cx="34917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acceleration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and its speed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7705852"/>
            <a:ext cx="34598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angular frequency of the motion is ............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7871841"/>
            <a:ext cx="1003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381504" y="7871841"/>
            <a:ext cx="8924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40048" y="7871841"/>
            <a:ext cx="7966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98592" y="7871841"/>
            <a:ext cx="10229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8429752"/>
            <a:ext cx="32318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amplitude and the maximum speed.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81177"/>
            <a:ext cx="65993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body is moving away from the equilibrium position. How long does it take to reach the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2152"/>
            <a:ext cx="13441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extreme position?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23516"/>
            <a:ext cx="62250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light spring hangs vertically. When a body of mass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 is hung from it, the spring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14016"/>
            <a:ext cx="63955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stretches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and the body rests at its equilibrium position. The body is then pulled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94991"/>
            <a:ext cx="32659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cm further down and released (g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257927"/>
            <a:ext cx="25820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spring constant equals ............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33441"/>
            <a:ext cx="7198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81504" y="5433441"/>
            <a:ext cx="90525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40048" y="5433441"/>
            <a:ext cx="9276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98592" y="5433441"/>
            <a:ext cx="8159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991352"/>
            <a:ext cx="36892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periodic time of the oscillation equals ............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157341"/>
            <a:ext cx="8149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628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81504" y="6157341"/>
            <a:ext cx="6187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40048" y="6157341"/>
            <a:ext cx="70345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98592" y="6157341"/>
            <a:ext cx="9109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0628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715252"/>
            <a:ext cx="54574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greatest and the smallest tension in the spring during the motion.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7772527"/>
            <a:ext cx="65559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What is the largest amplitude for which the spring is never compressed during the motion?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80491"/>
            <a:ext cx="62726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graph shows the displacement of a body of mass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 attached to a horizontal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24077"/>
            <a:ext cx="14798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spring against time: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4377"/>
            <a:ext cx="25820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spring constant equals ............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99891"/>
            <a:ext cx="8707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157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940048" y="3699891"/>
            <a:ext cx="9279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98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28491"/>
            <a:ext cx="8976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493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940048" y="3928491"/>
            <a:ext cx="10101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4930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23791"/>
            <a:ext cx="42311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speed of the body when its displacement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71541"/>
            <a:ext cx="65204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first moment after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at which the kinetic energy equals the potential energy.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795516"/>
            <a:ext cx="64771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hung from a spring oscillates vertically with a periodic time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s. The spring is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7048627"/>
            <a:ext cx="30280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then cut into two equal halves, as shown: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81177"/>
            <a:ext cx="31664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spring constant of each half is ............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47166"/>
            <a:ext cx="6230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381504" y="947166"/>
            <a:ext cx="4504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40048" y="1009777"/>
            <a:ext cx="3421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98592" y="947166"/>
            <a:ext cx="4671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505077"/>
            <a:ext cx="52997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If the body is hung from one half only, its periodic time becomes ............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680591"/>
            <a:ext cx="8215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566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81504" y="1680591"/>
            <a:ext cx="6294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40048" y="1680591"/>
            <a:ext cx="6433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98592" y="1680591"/>
            <a:ext cx="6234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175891"/>
            <a:ext cx="64696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body is hung from the two halves side by side, as in figure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). Find its periodic time.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99866"/>
            <a:ext cx="65291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block of mass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 on a smooth horizontal surface oscillates on a spring of constant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680841"/>
            <a:ext cx="65330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 with an amplitude of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cm. At the moment the block reaches an extreme position,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71341"/>
            <a:ext cx="51876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second block of mass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 is placed gently on it and moves with it: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10202"/>
            <a:ext cx="31780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amplitude of the new motion is ............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76191"/>
            <a:ext cx="6300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81504" y="4576191"/>
            <a:ext cx="8462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940048" y="4576191"/>
            <a:ext cx="7679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98592" y="4576191"/>
            <a:ext cx="619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34102"/>
            <a:ext cx="42527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periodic time before and after adding the block.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191377"/>
            <a:ext cx="60556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maximum speed before and after, and show that the total energy has not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372352"/>
            <a:ext cx="72555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changed.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7643241"/>
            <a:ext cx="65938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displacement of a body in simple harmonic motion is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10π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t), where x is 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7886827"/>
            <a:ext cx="18348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metres and t in seconds: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8363077"/>
            <a:ext cx="62094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first moment at which the speed of the body is half its maximum speed is ............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8538591"/>
            <a:ext cx="7157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381504" y="8538591"/>
            <a:ext cx="6883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940048" y="8538591"/>
            <a:ext cx="7005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98592" y="8538591"/>
            <a:ext cx="7198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81177"/>
            <a:ext cx="66071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second moment at which this happens, and the acceleration of the body at these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2152"/>
            <a:ext cx="105029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two moments.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56816"/>
            <a:ext cx="47412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distance travelled by the body from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to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80791"/>
            <a:ext cx="65116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of mass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 moves in simple harmonic motion. Its kinetic energy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27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 when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61766"/>
            <a:ext cx="48112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its displacement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cm, and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 when its displacement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00627"/>
            <a:ext cx="25820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spring constant equals ............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76141"/>
            <a:ext cx="8674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81504" y="4176141"/>
            <a:ext cx="8944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40048" y="4176141"/>
            <a:ext cx="8938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400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98592" y="4176141"/>
            <a:ext cx="8041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80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34052"/>
            <a:ext cx="30087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total energy and the amplitude.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781802"/>
            <a:ext cx="34604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maximum speed and the periodic time.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7115302"/>
            <a:ext cx="64140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Two mass–spring oscillators A and B have the same total energy. The mass of A is twice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7233666"/>
            <a:ext cx="47343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mass of B, and the spring constant of A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times that of B: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7772527"/>
            <a:ext cx="38152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ratio of their amplitudes A</a:t>
            </a:r>
            <a:pPr algn="l" indent="0" marL="0">
              <a:buNone/>
            </a:pPr>
            <a:r>
              <a:rPr lang="en-US" sz="1200" baseline="-400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A</a:t>
            </a:r>
            <a:pPr algn="l" indent="0" marL="0">
              <a:buNone/>
            </a:pPr>
            <a:r>
              <a:rPr lang="en-US" sz="1200" baseline="-400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equals ............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7948041"/>
            <a:ext cx="3783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81504" y="7948041"/>
            <a:ext cx="5003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940048" y="7948041"/>
            <a:ext cx="4997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98592" y="7976616"/>
            <a:ext cx="6607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8534527"/>
            <a:ext cx="413994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ratio of their maximum speeds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equals ............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381504" y="8700516"/>
            <a:ext cx="5003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940048" y="8700516"/>
            <a:ext cx="3618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8794750"/>
            <a:ext cx="2317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56081" y="8732012"/>
            <a:ext cx="1729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98592" y="8732012"/>
            <a:ext cx="6607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81177"/>
            <a:ext cx="60664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ratio of their periodic times and the ratio of their maximum accelerations.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42541"/>
            <a:ext cx="648030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body of mass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 on a spring starts its simple harmonic motion from the equilibrium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23516"/>
            <a:ext cx="65642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position (x = A sin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t). It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away from the equilibrium position for the first time at 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14016"/>
            <a:ext cx="55004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s, and it reaches an extreme position for the first time at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s: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52877"/>
            <a:ext cx="30885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periodic time of the motion is ............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18866"/>
            <a:ext cx="6950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15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81504" y="3118866"/>
            <a:ext cx="6205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40048" y="3118866"/>
            <a:ext cx="6060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0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98592" y="3118866"/>
            <a:ext cx="5943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76777"/>
            <a:ext cx="28541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amplitude of the motion is ............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52291"/>
            <a:ext cx="6300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4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81504" y="3852291"/>
            <a:ext cx="6144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40048" y="3852291"/>
            <a:ext cx="8310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83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98592" y="3852291"/>
            <a:ext cx="619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8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10202"/>
            <a:ext cx="46391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Find the spring constant and the total energy of the oscillator.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43936" y="5483860"/>
            <a:ext cx="160743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556A8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Chapter </a:t>
            </a:r>
            <a:pPr algn="l" indent="0" marL="0">
              <a:buNone/>
            </a:pPr>
            <a:r>
              <a:rPr lang="en-US" sz="1300" b="1" dirty="0">
                <a:solidFill>
                  <a:srgbClr val="2556A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2556A8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2556A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·</a:t>
            </a:r>
            <a:pPr algn="l" indent="0" marL="0">
              <a:buNone/>
            </a:pPr>
            <a:r>
              <a:rPr lang="en-US" sz="1300" dirty="0">
                <a:solidFill>
                  <a:srgbClr val="2556A8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Lesson </a:t>
            </a:r>
            <a:pPr algn="l" indent="0" marL="0">
              <a:buNone/>
            </a:pPr>
            <a:r>
              <a:rPr lang="en-US" sz="1300" b="1" dirty="0">
                <a:solidFill>
                  <a:srgbClr val="2556A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598928" y="6172327"/>
            <a:ext cx="25685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Every question solved step by step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7138416"/>
            <a:ext cx="25532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k / m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7338441"/>
            <a:ext cx="10138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5957" y="7586091"/>
            <a:ext cx="8710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7900416"/>
            <a:ext cx="213347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8090916"/>
            <a:ext cx="8976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5957" y="8348091"/>
            <a:ext cx="8196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628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70991"/>
            <a:ext cx="23394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Comparing with x = A sin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 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61491"/>
            <a:ext cx="8856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25957" y="1518666"/>
            <a:ext cx="7730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32991"/>
            <a:ext cx="10458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3491"/>
            <a:ext cx="24767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25957" y="2271141"/>
            <a:ext cx="7860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6966"/>
            <a:ext cx="33470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x : proportional to the displacement x,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47466"/>
            <a:ext cx="386067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and the negative sign means it points towards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25957" y="3667252"/>
            <a:ext cx="59891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directed towards the equilibrium position and proportional to the displacement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18966"/>
            <a:ext cx="51452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all the energy is kinetic, so the speed is maximum :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25957" y="4229227"/>
            <a:ext cx="19552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the equilibrium position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80941"/>
            <a:ext cx="48063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: its magnitude is largest where |x| is largest, at x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±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25957" y="4800727"/>
            <a:ext cx="21219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the two extreme positions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614416"/>
            <a:ext cx="39959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largest displacement read from the graph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04916"/>
            <a:ext cx="74244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25957" y="6062091"/>
            <a:ext cx="6296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76416"/>
            <a:ext cx="25961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One complete cycle takes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566916"/>
            <a:ext cx="203390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5957" y="6814566"/>
            <a:ext cx="79209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25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7128891"/>
            <a:ext cx="2760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5957" y="7386066"/>
            <a:ext cx="11771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85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8262366"/>
            <a:ext cx="16160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x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= |F| / x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8452866"/>
            <a:ext cx="17265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5957" y="8710041"/>
            <a:ext cx="8874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9043416"/>
            <a:ext cx="25808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/ k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9233916"/>
            <a:ext cx="17918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5957" y="9491091"/>
            <a:ext cx="8196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628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7141"/>
            <a:ext cx="50526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restoring force is always opposite to the displacement (F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kx):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0252"/>
            <a:ext cx="45380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it always pulls the body back towards the equilibrium position.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25957" y="1247902"/>
            <a:ext cx="18576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 is always opposite to x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71116"/>
            <a:ext cx="21423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61616"/>
            <a:ext cx="17096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25957" y="2509266"/>
            <a:ext cx="8971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23591"/>
            <a:ext cx="21799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4091"/>
            <a:ext cx="24969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25957" y="3271266"/>
            <a:ext cx="16948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,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9537"/>
            <a:ext cx="27099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∝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k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/ k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25957" y="4423791"/>
            <a:ext cx="38392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57166"/>
            <a:ext cx="33793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must equal T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/ 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57191"/>
            <a:ext cx="191935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= m / k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5957" y="5204841"/>
            <a:ext cx="6245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81141"/>
            <a:ext cx="21562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281166"/>
            <a:ext cx="7559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5957" y="6528816"/>
            <a:ext cx="6610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843141"/>
            <a:ext cx="35137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all the energy is kinetic :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7055612"/>
            <a:ext cx="30684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/ m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5957" y="7309866"/>
            <a:ext cx="93040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aseline="-400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7624191"/>
            <a:ext cx="28759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PE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7814691"/>
            <a:ext cx="23398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KE = E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PE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8027162"/>
            <a:ext cx="36569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KE / m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5957" y="8281416"/>
            <a:ext cx="9023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73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9167241"/>
            <a:ext cx="52265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kinetic energy is maximum at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and zero at x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±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curve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9357741"/>
            <a:ext cx="38757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Curve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is the potential energy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, zero at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5957" y="9605391"/>
            <a:ext cx="9358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curve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7141"/>
            <a:ext cx="28600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PE = KE = E/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59612"/>
            <a:ext cx="25643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= A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25957" y="1226312"/>
            <a:ext cx="8007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A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47241"/>
            <a:ext cx="18267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PE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(A/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E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37741"/>
            <a:ext cx="16959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KE = E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8241"/>
            <a:ext cx="10967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KE : PE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25957" y="2185416"/>
            <a:ext cx="10967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KE : PE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1716"/>
            <a:ext cx="35279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A sin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52216"/>
            <a:ext cx="32605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/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/T) = T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25957" y="3509391"/>
            <a:ext cx="5796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23716"/>
            <a:ext cx="22230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from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to A takes T/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014216"/>
            <a:ext cx="241058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from 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to A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67327"/>
            <a:ext cx="62334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body slows down as it approaches the extreme position, so the second half takes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57827"/>
            <a:ext cx="5344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longer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5957" y="4652391"/>
            <a:ext cx="6835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528691"/>
            <a:ext cx="31589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|a| /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719191"/>
            <a:ext cx="10458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5957" y="5976366"/>
            <a:ext cx="9030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290691"/>
            <a:ext cx="24969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5957" y="6538341"/>
            <a:ext cx="8802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852666"/>
            <a:ext cx="66399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acceleration is proportional to the displacement and always opposite to it (a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x).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5957" y="7119366"/>
            <a:ext cx="5534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∝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7995666"/>
            <a:ext cx="26690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8186166"/>
            <a:ext cx="29452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(an extreme position)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25957" y="8443341"/>
            <a:ext cx="6276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8757666"/>
            <a:ext cx="44132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an extreme position the body stops for an instant : v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8948166"/>
            <a:ext cx="42998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−246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−24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5957" y="9195816"/>
            <a:ext cx="16403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, a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−24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7141"/>
            <a:ext cx="31109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25957" y="994791"/>
            <a:ext cx="7169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33702"/>
            <a:ext cx="58530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periodic time of simple harmonic motion does not depend on the amplitude;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33727"/>
            <a:ext cx="36645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that is why the pitch of the sound stays the same.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25957" y="2381377"/>
            <a:ext cx="14954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remains constant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5702"/>
            <a:ext cx="31868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shorter free length is stiffer (a larger k),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45562"/>
            <a:ext cx="468757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 =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k / m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frequency increases (a higher pitch).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25957" y="3162427"/>
            <a:ext cx="17887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frequency increases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98087"/>
            <a:ext cx="5173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Both take T/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, and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/ k does not depend on the amplitude.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25957" y="4314952"/>
            <a:ext cx="187121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both at the same time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66666"/>
            <a:ext cx="20822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A, with the same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57166"/>
            <a:ext cx="10346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28878" y="5014341"/>
            <a:ext cx="4145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28666"/>
            <a:ext cx="162915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∝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19166"/>
            <a:ext cx="18496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E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28878" y="5766816"/>
            <a:ext cx="5189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671691"/>
            <a:ext cx="19921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m/k : unchanged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862191"/>
            <a:ext cx="15242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: doubled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7062216"/>
            <a:ext cx="11007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×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7252716"/>
            <a:ext cx="16079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: doubled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5957" y="7562977"/>
            <a:ext cx="24655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the maximum speed is doubled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7814691"/>
            <a:ext cx="18868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∝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5957" y="8071866"/>
            <a:ext cx="7975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times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8967216"/>
            <a:ext cx="30176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 = m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m × k / k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9189212"/>
            <a:ext cx="18655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5957" y="9455912"/>
            <a:ext cx="787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T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69112"/>
            <a:ext cx="21897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∝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f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f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25957" y="1035812"/>
            <a:ext cx="7664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′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18716"/>
            <a:ext cx="58451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speed is maximum where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(the steepest parts of the curve) : P, R and T.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25957" y="2228977"/>
            <a:ext cx="10059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P, R and 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90216"/>
            <a:ext cx="41127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is largest and positive where x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: point 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25957" y="2800477"/>
            <a:ext cx="3746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52191"/>
            <a:ext cx="27331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where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P, R and T.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25957" y="3362452"/>
            <a:ext cx="7992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P, R and 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4716"/>
            <a:ext cx="39498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energy :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v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v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17187"/>
            <a:ext cx="34363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25957" y="4671441"/>
            <a:ext cx="7889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07737"/>
            <a:ext cx="27438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=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26812"/>
            <a:ext cx="25935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=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14391"/>
            <a:ext cx="18671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866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5957" y="5671566"/>
            <a:ext cx="8931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547866"/>
            <a:ext cx="26569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(A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for both positions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5881" y="6738366"/>
            <a:ext cx="406565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(A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and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(A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0064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928866"/>
            <a:ext cx="45615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subtracting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5957" y="7186041"/>
            <a:ext cx="10138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7500366"/>
            <a:ext cx="38244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0064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7690866"/>
            <a:ext cx="13552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5957" y="7938516"/>
            <a:ext cx="7947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8824341"/>
            <a:ext cx="22585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 (one complete cycle)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9014841"/>
            <a:ext cx="27433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25957" y="9262491"/>
            <a:ext cx="11584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7141"/>
            <a:ext cx="3644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0159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25957" y="994791"/>
            <a:ext cx="8249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59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09116"/>
            <a:ext cx="53347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speed is maximum, so the body is at the equilibrium position.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25957" y="1619377"/>
            <a:ext cx="19569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the equilibrium position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42591"/>
            <a:ext cx="18166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PE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(A/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E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33091"/>
            <a:ext cx="16691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KE = E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23591"/>
            <a:ext cx="8911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KE : PE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25957" y="3080766"/>
            <a:ext cx="3768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95091"/>
            <a:ext cx="16976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f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85591"/>
            <a:ext cx="31341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m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986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25957" y="3833241"/>
            <a:ext cx="7247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19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19066"/>
            <a:ext cx="285940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∝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(m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/ m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5881" y="4909566"/>
            <a:ext cx="13568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m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5881" y="5100066"/>
            <a:ext cx="213855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5957" y="5357241"/>
            <a:ext cx="9273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671566"/>
            <a:ext cx="29819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3125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62066"/>
            <a:ext cx="10054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5957" y="6109716"/>
            <a:ext cx="10054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49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995541"/>
            <a:ext cx="26320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k) m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slope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7186041"/>
            <a:ext cx="212420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slope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/kg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7376541"/>
            <a:ext cx="29221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5957" y="7624191"/>
            <a:ext cx="9526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49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7938516"/>
            <a:ext cx="17640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8138541"/>
            <a:ext cx="7051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25957" y="8386191"/>
            <a:ext cx="7051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70991"/>
            <a:ext cx="71310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61491"/>
            <a:ext cx="28401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25957" y="1518666"/>
            <a:ext cx="10882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32991"/>
            <a:ext cx="27341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,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25957" y="2080641"/>
            <a:ext cx="15996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(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88437"/>
            <a:ext cx="329361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 = A sin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/T × T/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= A sin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45°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A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76016"/>
            <a:ext cx="27974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PE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E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KE = E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66516"/>
            <a:ext cx="10628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KE : PE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25957" y="3623691"/>
            <a:ext cx="5534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38016"/>
            <a:ext cx="37219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A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28516"/>
            <a:ext cx="24767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25957" y="4385691"/>
            <a:ext cx="8025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Hz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324602"/>
            <a:ext cx="55270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larger amplitude gives a larger restoring force and a larger acceleration,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71541"/>
            <a:ext cx="61495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so the longer path is covered faster in the same time :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m/k contains no A.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5957" y="5791327"/>
            <a:ext cx="202399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depends only on m and 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105652"/>
            <a:ext cx="45330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There the potential energy is zero, so all the energy is kinetic.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5957" y="6290691"/>
            <a:ext cx="18456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PE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KE is maximum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626987"/>
            <a:ext cx="54485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m/k does not contain g; the mass and the spring do not change.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5957" y="6943852"/>
            <a:ext cx="18172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does not depend on 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7786116"/>
            <a:ext cx="18784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7995666"/>
            <a:ext cx="44950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0144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5957" y="8252841"/>
            <a:ext cx="7701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8567166"/>
            <a:ext cx="27570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v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8757666"/>
            <a:ext cx="30252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PE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8948166"/>
            <a:ext cx="33606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KE + PE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5957" y="9205341"/>
            <a:ext cx="18929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 , PE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5881" y="1070991"/>
            <a:ext cx="325615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61491"/>
            <a:ext cx="13522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167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25957" y="1518666"/>
            <a:ext cx="6263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52041"/>
            <a:ext cx="31960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42541"/>
            <a:ext cx="9961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cm/s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25957" y="2299716"/>
            <a:ext cx="9961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cm/s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76016"/>
            <a:ext cx="25377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|a|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66516"/>
            <a:ext cx="10458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25957" y="3623691"/>
            <a:ext cx="9030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38016"/>
            <a:ext cx="24166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 = |a|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25957" y="4185666"/>
            <a:ext cx="6910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99991"/>
            <a:ext cx="24969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25957" y="4757166"/>
            <a:ext cx="8802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655437"/>
            <a:ext cx="40010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 ,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52541"/>
            <a:ext cx="16770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f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25957" y="6100191"/>
            <a:ext cx="5110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414516"/>
            <a:ext cx="2776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, with the same A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∝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605016"/>
            <a:ext cx="18964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E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805041"/>
            <a:ext cx="19635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(E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 , E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5957" y="7052691"/>
            <a:ext cx="9792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E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7367016"/>
            <a:ext cx="261810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v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v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7557516"/>
            <a:ext cx="18846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(v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 , v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8878" y="7814691"/>
            <a:ext cx="3001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8690991"/>
            <a:ext cx="51405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from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to x = 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A sin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8881491"/>
            <a:ext cx="33355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/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/T) = T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9071991"/>
            <a:ext cx="49730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from +A/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to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takes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 and from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to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takes another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9272016"/>
            <a:ext cx="15398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5957" y="9519666"/>
            <a:ext cx="6224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7141"/>
            <a:ext cx="403479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average speed = distance / time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37641"/>
            <a:ext cx="40914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T) A =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262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28141"/>
            <a:ext cx="532777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average is less than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because the speed is maximum only at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25957" y="1375791"/>
            <a:ext cx="278257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average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25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 ,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262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0116"/>
            <a:ext cx="50173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in one oscillation the body crosses the region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&lt; x &lt; +A/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twice,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80616"/>
            <a:ext cx="288937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and each crossing takes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T/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T/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80641"/>
            <a:ext cx="33279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time inside the region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T/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T/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71141"/>
            <a:ext cx="30405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time outside = T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25957" y="2518791"/>
            <a:ext cx="6518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04616"/>
            <a:ext cx="26055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|a|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95116"/>
            <a:ext cx="10458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25957" y="3842766"/>
            <a:ext cx="8971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79062"/>
            <a:ext cx="31934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0009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6089" y="4395216"/>
            <a:ext cx="40427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0009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0016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0009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0025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85716"/>
            <a:ext cx="14329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76216"/>
            <a:ext cx="22617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5957" y="5033391"/>
            <a:ext cx="16995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,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347716"/>
            <a:ext cx="24969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538216"/>
            <a:ext cx="35302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 = A sin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θ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sin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θ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θ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87°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728716"/>
            <a:ext cx="59470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extreme position is at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θ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90°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: the remaining angle is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90°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87°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13°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919216"/>
            <a:ext cx="26254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360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5957" y="6176391"/>
            <a:ext cx="8651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7115302"/>
            <a:ext cx="455129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equilibrium the spring force balances the weight : k e = m 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7243191"/>
            <a:ext cx="28634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= m g / e =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25957" y="7500366"/>
            <a:ext cx="8206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7833741"/>
            <a:ext cx="429234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/ k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8046212"/>
            <a:ext cx="3321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(the same as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e / g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5957" y="8300466"/>
            <a:ext cx="8196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628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8614791"/>
            <a:ext cx="51334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amplitude is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about the equilibrium position (extension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8805291"/>
            <a:ext cx="50450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lowest point : extension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9005316"/>
            <a:ext cx="50255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highest point : extension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min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25957" y="9252966"/>
            <a:ext cx="19159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pPr algn="l" indent="0" marL="0">
              <a:buNone/>
            </a:pPr>
            <a:r>
              <a:rPr lang="en-US" sz="1200" baseline="-400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 , T</a:t>
            </a:r>
            <a:pPr algn="l" indent="0" marL="0">
              <a:buNone/>
            </a:pPr>
            <a:r>
              <a:rPr lang="en-US" sz="1200" baseline="-400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min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7141"/>
            <a:ext cx="344665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the highest point the extension is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37641"/>
            <a:ext cx="32477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spring is never compressed if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≥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28141"/>
            <a:ext cx="23860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≤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(the static extension)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25957" y="1375791"/>
            <a:ext cx="9818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baseline="-400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61616"/>
            <a:ext cx="27279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from the graph : 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,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52116"/>
            <a:ext cx="27433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42616"/>
            <a:ext cx="35556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= m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986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493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25957" y="2890266"/>
            <a:ext cx="9022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493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33166"/>
            <a:ext cx="29923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01²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42716"/>
            <a:ext cx="3593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0003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0173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544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25957" y="3699891"/>
            <a:ext cx="10741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544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036187"/>
            <a:ext cx="35822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KE = PE = E/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¼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= A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45737"/>
            <a:ext cx="56094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body starts at x = A : x = A cos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cos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t)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42841"/>
            <a:ext cx="34018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/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/T) = T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5957" y="4690491"/>
            <a:ext cx="88214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025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576316"/>
            <a:ext cx="50586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same force F stretches the whole spring x and each half only x/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766816"/>
            <a:ext cx="22195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half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F / (x/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F /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5957" y="6014466"/>
            <a:ext cx="4551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50762"/>
            <a:ext cx="36629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∝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k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T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566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5957" y="6605016"/>
            <a:ext cx="8262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566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981952"/>
            <a:ext cx="29521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both halves stretch the same distance x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7109841"/>
            <a:ext cx="47993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total force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x +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x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the pair acts as one spring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7322312"/>
            <a:ext cx="21981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″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T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5957" y="7576566"/>
            <a:ext cx="7748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″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8525002"/>
            <a:ext cx="63822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the extreme position the speed is zero, and adding the block there gives it no speed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8652891"/>
            <a:ext cx="45220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so the body is still at rest at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 from equilibrium : 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5957" y="8900541"/>
            <a:ext cx="6236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66191"/>
            <a:ext cx="37101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before : T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75741"/>
            <a:ext cx="35968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after : T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141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888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25957" y="1232916"/>
            <a:ext cx="19438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628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 , T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888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66291"/>
            <a:ext cx="398538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v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78762"/>
            <a:ext cx="42979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v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566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75866"/>
            <a:ext cx="58247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 in both cases (k and A did not change)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66366"/>
            <a:ext cx="24189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check :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566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25957" y="2414016"/>
            <a:ext cx="29622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 , v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566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 , 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18891"/>
            <a:ext cx="410565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 =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=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31362"/>
            <a:ext cx="27329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sin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t)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28466"/>
            <a:ext cx="7786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25957" y="3976116"/>
            <a:ext cx="7245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12412"/>
            <a:ext cx="44187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sin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t)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again when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1487"/>
            <a:ext cx="36790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at both moments x =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0346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719066"/>
            <a:ext cx="48731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x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0346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−986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0346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−34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25957" y="4976241"/>
            <a:ext cx="19530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15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 , a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−34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90566"/>
            <a:ext cx="233870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5881" y="5481066"/>
            <a:ext cx="12514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 = T + T/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671566"/>
            <a:ext cx="60264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one oscillation covers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and a quarter oscillation (from x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to x = A) covers 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862066"/>
            <a:ext cx="30596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distance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+ 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5957" y="6119241"/>
            <a:ext cx="13197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distance =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995541"/>
            <a:ext cx="4342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the total energy is constant : KE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x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KE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x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5881" y="7186041"/>
            <a:ext cx="35909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0016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5881" y="7376541"/>
            <a:ext cx="23606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0008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25957" y="7633716"/>
            <a:ext cx="8991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7948041"/>
            <a:ext cx="50180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KE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x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0009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8138541"/>
            <a:ext cx="433400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0036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5957" y="8386191"/>
            <a:ext cx="163588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 , 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8722487"/>
            <a:ext cx="43384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E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8938641"/>
            <a:ext cx="47901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k / m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9129141"/>
            <a:ext cx="24701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check :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25957" y="9386316"/>
            <a:ext cx="19719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aseline="-400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m/s ,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314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70991"/>
            <a:ext cx="30812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is the same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k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3462"/>
            <a:ext cx="24851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k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k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25957" y="1537716"/>
            <a:ext cx="5050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012"/>
            <a:ext cx="350710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is the same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m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m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90166"/>
            <a:ext cx="17056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v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25957" y="2359787"/>
            <a:ext cx="6654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d)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9766"/>
            <a:ext cx="518134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m / k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(m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m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× (k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k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90266"/>
            <a:ext cx="178828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max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 = (k / m) 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80766"/>
            <a:ext cx="42494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(k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k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× (m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m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× (A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A</a:t>
            </a:r>
            <a:pPr algn="l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25957" y="3359912"/>
            <a:ext cx="20438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</a:t>
            </a:r>
            <a:pPr algn="l" indent="0" marL="0">
              <a:buNone/>
            </a:pPr>
            <a:r>
              <a:rPr lang="en-US" sz="1200" baseline="-400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</a:t>
            </a:r>
            <a:pPr algn="l" indent="0" marL="0">
              <a:buNone/>
            </a:pPr>
            <a:r>
              <a:rPr lang="en-US" sz="1200" baseline="-400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, a</a:t>
            </a:r>
            <a:pPr algn="l" indent="0" marL="0">
              <a:buNone/>
            </a:pPr>
            <a:r>
              <a:rPr lang="en-US" sz="1200" baseline="-400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a</a:t>
            </a:r>
            <a:pPr algn="l" indent="0" marL="0">
              <a:buNone/>
            </a:pPr>
            <a:r>
              <a:rPr lang="en-US" sz="1200" baseline="-400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05427"/>
            <a:ext cx="57631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from the equilibrium position to an extreme position takes a quarter of a cycle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33316"/>
            <a:ext cx="19356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T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25957" y="4680966"/>
            <a:ext cx="6104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c)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995291"/>
            <a:ext cx="22753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t =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185791"/>
            <a:ext cx="31733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x = A sin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/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A ×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A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25957" y="5442966"/>
            <a:ext cx="63474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a)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cm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757291"/>
            <a:ext cx="28088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π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T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28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/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rad/s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947791"/>
            <a:ext cx="37534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= m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ω²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(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47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138291"/>
            <a:ext cx="32693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E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k A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=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½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32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× (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)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²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0263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5957" y="6395466"/>
            <a:ext cx="20722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k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32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N/m , E 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≈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.</a:t>
            </a:r>
            <a:pPr algn="l" indent="0" marL="0">
              <a:buNone/>
            </a:pPr>
            <a:r>
              <a:rPr lang="en-US" sz="1200" b="1" dirty="0">
                <a:solidFill>
                  <a:srgbClr val="1B3F85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0263</a:t>
            </a:r>
            <a:pPr algn="l" indent="0" marL="0">
              <a:buNone/>
            </a:pPr>
            <a:r>
              <a:rPr lang="en-US" sz="1200" dirty="0">
                <a:solidFill>
                  <a:srgbClr val="1B3F85"/>
                </a:solidFill>
                <a:latin typeface="Vintage Vignette" pitchFamily="34" charset="0"/>
                <a:ea typeface="Vintage Vignette" pitchFamily="34" charset="-122"/>
                <a:cs typeface="Vintage Vignette" pitchFamily="34" charset="-120"/>
              </a:rPr>
              <a:t> J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 BANK - Chapter 2 - Lesson 1 - Simple Harmonic Motion</dc:title>
  <dc:subject>PptxGenJS Presentation</dc:subject>
  <dc:creator>PptxGenJS</dc:creator>
  <cp:lastModifiedBy>PptxGenJS</cp:lastModifiedBy>
  <cp:revision>1</cp:revision>
  <dcterms:created xsi:type="dcterms:W3CDTF">2026-09-25T07:48:54Z</dcterms:created>
  <dcterms:modified xsi:type="dcterms:W3CDTF">2026-09-25T07:48:54Z</dcterms:modified>
</cp:coreProperties>
</file>